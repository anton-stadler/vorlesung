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17904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3392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9856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95344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21808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97296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8272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9248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74736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0224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25712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17904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93392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44368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19856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95344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21808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97296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72784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48272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0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74736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50224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25712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2416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17904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93392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44368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19856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95344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70832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21808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97296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72784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48272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23760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99248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74736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50224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25712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440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6928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2416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17904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993392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68880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44368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19856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895344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370832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321808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797296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72784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748272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23760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699248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174736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650224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125712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66928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42416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517904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93392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468880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944368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419856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895344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70832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846320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321808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797296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272784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48272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23760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99248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174736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650224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25712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1440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66928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42416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517904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993392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468880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944368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419856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895344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370832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846320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21808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97296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272784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748272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223760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699248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174736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650224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125712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1440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66928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42416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517904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993392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468880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944368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419856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895344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70832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846320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321808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797296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272784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48272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223760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699248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174736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50224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125712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1440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66928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42416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517904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993392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468880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944368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419856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895344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370832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846320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21808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97296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272784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748272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223760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699248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174736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650224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25712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1440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66928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42416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517904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993392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468880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944368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419856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895344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370832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846320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321808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797296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272784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748272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223760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699248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174736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650224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125712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Probelehrveranstaltung · TH Rosenheim · 20.03.2026</a:t>
            </a:r>
            <a:endParaRPr lang="en-US" sz="1200" dirty="0"/>
          </a:p>
        </p:txBody>
      </p:sp>
      <p:sp>
        <p:nvSpPr>
          <p:cNvPr id="184" name="Text 182"/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Sourcing</a:t>
            </a:r>
            <a:endParaRPr lang="en-US" sz="6800" dirty="0"/>
          </a:p>
        </p:txBody>
      </p:sp>
      <p:sp>
        <p:nvSpPr>
          <p:cNvPr id="185" name="Text 183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 Architektur-Pattern</a:t>
            </a:r>
            <a:endParaRPr lang="en-US" sz="3400" dirty="0"/>
          </a:p>
        </p:txBody>
      </p:sp>
      <p:sp>
        <p:nvSpPr>
          <p:cNvPr id="186" name="Text 184"/>
          <p:cNvSpPr/>
          <p:nvPr/>
        </p:nvSpPr>
        <p:spPr>
          <a:xfrm>
            <a:off x="4572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 </a:t>
            </a:r>
            <a:pPr indent="0" marL="0">
              <a:buNone/>
            </a:pPr>
            <a:r>
              <a:rPr lang="en-US" sz="24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2400" dirty="0"/>
          </a:p>
        </p:txBody>
      </p:sp>
      <p:sp>
        <p:nvSpPr>
          <p:cNvPr id="187" name="Shape 185"/>
          <p:cNvSpPr/>
          <p:nvPr/>
        </p:nvSpPr>
        <p:spPr>
          <a:xfrm>
            <a:off x="457200" y="3127248"/>
            <a:ext cx="8229600" cy="0"/>
          </a:xfrm>
          <a:prstGeom prst="line">
            <a:avLst/>
          </a:prstGeom>
          <a:noFill/>
          <a:ln w="12700">
            <a:solidFill>
              <a:srgbClr val="44475A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457200" y="3273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Dr.-Ing. Anton Stadler</a:t>
            </a:r>
            <a:endParaRPr lang="en-US" sz="1400" dirty="0"/>
          </a:p>
        </p:txBody>
      </p:sp>
      <p:sp>
        <p:nvSpPr>
          <p:cNvPr id="189" name="Text 187"/>
          <p:cNvSpPr/>
          <p:nvPr/>
        </p:nvSpPr>
        <p:spPr>
          <a:xfrm>
            <a:off x="457200" y="35935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Keenfinity GmbH (Bosch Ausgründung)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5669280" y="3273552"/>
            <a:ext cx="3017520" cy="384048"/>
          </a:xfrm>
          <a:prstGeom prst="rect">
            <a:avLst/>
          </a:prstGeom>
          <a:solidFill>
            <a:srgbClr val="44475A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760720" y="32735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Semester  ·  Bachelor Informatik</a:t>
            </a:r>
            <a:endParaRPr lang="en-US" sz="1000" dirty="0"/>
          </a:p>
        </p:txBody>
      </p:sp>
      <p:sp>
        <p:nvSpPr>
          <p:cNvPr id="192" name="Shape 190"/>
          <p:cNvSpPr/>
          <p:nvPr/>
        </p:nvSpPr>
        <p:spPr>
          <a:xfrm>
            <a:off x="5669280" y="3776472"/>
            <a:ext cx="3017520" cy="384048"/>
          </a:xfrm>
          <a:prstGeom prst="rect">
            <a:avLst/>
          </a:prstGeom>
          <a:solidFill>
            <a:srgbClr val="44475A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5760720" y="377647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Computing  ·  Applied AI</a:t>
            </a:r>
            <a:endParaRPr lang="en-US" sz="1000" dirty="0"/>
          </a:p>
        </p:txBody>
      </p:sp>
      <p:sp>
        <p:nvSpPr>
          <p:cNvPr id="194" name="Shape 19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1F29"/>
          </a:solidFill>
          <a:ln w="6350">
            <a:solidFill>
              <a:srgbClr val="6272A4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Technische Hochschule Rosenheim  ·  Fakultät für Informatik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1F29"/>
          </a:solidFill>
          <a:ln w="12700">
            <a:solidFill>
              <a:srgbClr val="1E1F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Szenario: Pizzabestellung in der Gruppe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353312"/>
            <a:ext cx="3657600" cy="1234440"/>
          </a:xfrm>
          <a:prstGeom prst="rect">
            <a:avLst/>
          </a:prstGeom>
          <a:solidFill>
            <a:srgbClr val="1E1F29"/>
          </a:solidFill>
          <a:ln w="12700">
            <a:solidFill>
              <a:srgbClr val="44475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0" y="1353312"/>
            <a:ext cx="3657600" cy="64008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4264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 orders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75564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ctr"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</a:t>
            </a:r>
            <a:pPr algn="ctr" indent="0" marL="0">
              <a:buNone/>
            </a:pPr>
            <a:r>
              <a:rPr lang="en-US" sz="1600" b="1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"delivered"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2606040"/>
            <a:ext cx="0" cy="320040"/>
          </a:xfrm>
          <a:prstGeom prst="line">
            <a:avLst/>
          </a:prstGeom>
          <a:noFill/>
          <a:ln w="19050">
            <a:solidFill>
              <a:srgbClr val="6272A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74320" y="2944368"/>
            <a:ext cx="2697480" cy="1389888"/>
          </a:xfrm>
          <a:prstGeom prst="rect">
            <a:avLst/>
          </a:prstGeom>
          <a:solidFill>
            <a:srgbClr val="1E1F29"/>
          </a:solidFill>
          <a:ln w="15240">
            <a:solidFill>
              <a:srgbClr val="FF55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944368"/>
            <a:ext cx="64008" cy="1389888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8912" y="3456432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Wer hat was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bestellt?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46120" y="2944368"/>
            <a:ext cx="2697480" cy="1389888"/>
          </a:xfrm>
          <a:prstGeom prst="rect">
            <a:avLst/>
          </a:prstGeom>
          <a:solidFill>
            <a:srgbClr val="1E1F29"/>
          </a:solidFill>
          <a:ln w="15240">
            <a:solidFill>
              <a:srgbClr val="FF55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2944368"/>
            <a:ext cx="64008" cy="1389888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410712" y="3456432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wurde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storniert?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944368"/>
            <a:ext cx="2697480" cy="1389888"/>
          </a:xfrm>
          <a:prstGeom prst="rect">
            <a:avLst/>
          </a:prstGeom>
          <a:solidFill>
            <a:srgbClr val="1E1F29"/>
          </a:solidFill>
          <a:ln w="15240">
            <a:solidFill>
              <a:srgbClr val="FF55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944368"/>
            <a:ext cx="64008" cy="1389888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82512" y="3456432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Warum die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falsche Pizza?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4462272"/>
            <a:ext cx="9144000" cy="429768"/>
          </a:xfrm>
          <a:prstGeom prst="rect">
            <a:avLst/>
          </a:prstGeom>
          <a:solidFill>
            <a:srgbClr val="1E1F29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462272"/>
            <a:ext cx="64008" cy="429768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462272"/>
            <a:ext cx="8686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 klassische System kennt nur den aktuellen Zustand — die Geschichte ist verloren.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1F29"/>
          </a:solidFill>
          <a:ln w="6350">
            <a:solidFill>
              <a:srgbClr val="6272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2A4"/>
                </a:solidFill>
              </a:rPr>
              <a:t>Dr.-Ing. Anton Stadler  ·  TH Rosenheim  ·  Event Sourcing als Architektur-Pattern mit Python  ·  Das Problem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F29"/>
          </a:solidFill>
          <a:ln w="12700">
            <a:solidFill>
              <a:srgbClr val="1E1F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Einordnung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60520" cy="3977640"/>
          </a:xfrm>
          <a:prstGeom prst="rect">
            <a:avLst/>
          </a:prstGeom>
          <a:solidFill>
            <a:srgbClr val="1E1F29"/>
          </a:solidFill>
          <a:ln w="12700">
            <a:solidFill>
              <a:srgbClr val="44475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60520" cy="64008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778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Wann sinnvoll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Audit-Trail gesetzlich / regulatorisch erforderlich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Komplexe Domäne mit vielen Zustandsübergängen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Time-Travel &amp; Debugging sind geschäftskritisch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Event-getriebene / kollaborative Systeme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788920"/>
            <a:ext cx="3840480" cy="0"/>
          </a:xfrm>
          <a:prstGeom prst="line">
            <a:avLst/>
          </a:prstGeom>
          <a:noFill/>
          <a:ln w="10160">
            <a:solidFill>
              <a:srgbClr val="4447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852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Praxisbeispiele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15468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🏦  Kontobewegungen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383280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 Lehrbuchbeispiel — jede Transaktion ist ein Event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64845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🛒  E-Commerce Bestellung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87705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placed → paid → shipped → delivered → returned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14223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🏥  Patientenakte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37083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Lückenlose, unveränderliche Behandlungshistorie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804672"/>
            <a:ext cx="4160520" cy="3977640"/>
          </a:xfrm>
          <a:prstGeom prst="rect">
            <a:avLst/>
          </a:prstGeom>
          <a:solidFill>
            <a:srgbClr val="1E1F29"/>
          </a:solidFill>
          <a:ln w="12700">
            <a:solidFill>
              <a:srgbClr val="44475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804672"/>
            <a:ext cx="4160520" cy="64008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8778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Wann Overkill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298448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Einfache CRUD-Apps ohne Historienrelevanz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ohne Event-Driven-Erfahrung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 hohes Event-Volumen ohne Snapshot-Plan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Lesezugriffe dominieren stark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 / Prototyp unter Zeitdruck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063240"/>
            <a:ext cx="3840480" cy="0"/>
          </a:xfrm>
          <a:prstGeom prst="line">
            <a:avLst/>
          </a:prstGeom>
          <a:noFill/>
          <a:ln w="10160">
            <a:solidFill>
              <a:srgbClr val="4447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127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Warum die Pizzabestellung?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438144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 Konto</a:t>
            </a:r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ist das Lehrbuchbeispiel.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Pizza</a:t>
            </a:r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ist der greifbare Einstieg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gleiche Mechanik, niedrigere Hemmschwelle.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1F29"/>
          </a:solidFill>
          <a:ln w="6350">
            <a:solidFill>
              <a:srgbClr val="6272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2A4"/>
                </a:solidFill>
              </a:rPr>
              <a:t>Dr.-Ing. Anton Stadler  ·  TH Rosenheim  ·  Event Sourcing als Architektur-Pattern mit Python  ·  Einordnung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17904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3392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9856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95344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21808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97296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8272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9248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74736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0224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25712" y="914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17904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93392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44368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19856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95344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21808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97296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72784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48272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0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74736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50224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25712" y="6858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2416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17904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93392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44368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19856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95344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70832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21808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97296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72784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48272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23760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99248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74736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50224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25712" y="12801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440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6928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2416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17904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993392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68880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44368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19856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895344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370832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321808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797296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72784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748272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23760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699248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174736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650224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125712" y="18745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66928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42416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517904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93392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468880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944368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419856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895344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70832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846320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321808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797296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272784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48272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23760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99248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174736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650224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25712" y="246888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1440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66928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42416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517904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993392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468880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944368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419856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895344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370832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846320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21808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97296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272784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748272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223760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699248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174736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650224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125712" y="306324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1440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66928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42416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517904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993392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468880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944368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419856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895344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70832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846320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321808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797296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272784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48272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223760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699248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174736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50224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125712" y="365760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1440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66928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42416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517904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993392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468880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944368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419856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895344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370832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846320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21808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97296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272784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748272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223760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699248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174736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650224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25712" y="425196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1440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66928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42416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517904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993392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468880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944368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419856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895344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370832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846320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321808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797296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272784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748272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223760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699248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174736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650224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125712" y="4846320"/>
            <a:ext cx="36576" cy="36576"/>
          </a:xfrm>
          <a:prstGeom prst="ellipse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223760" y="201168"/>
            <a:ext cx="1645920" cy="384048"/>
          </a:xfrm>
          <a:prstGeom prst="rect">
            <a:avLst/>
          </a:prstGeom>
          <a:solidFill>
            <a:srgbClr val="44475A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7223760" y="2011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BACKUP</a:t>
            </a:r>
            <a:endParaRPr lang="en-US" sz="1100" dirty="0"/>
          </a:p>
        </p:txBody>
      </p:sp>
      <p:sp>
        <p:nvSpPr>
          <p:cNvPr id="185" name="Text 183"/>
          <p:cNvSpPr/>
          <p:nvPr/>
        </p:nvSpPr>
        <p:spPr>
          <a:xfrm>
            <a:off x="457200" y="20116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kommt als nächstes?</a:t>
            </a:r>
            <a:endParaRPr lang="en-US" sz="3000" dirty="0"/>
          </a:p>
        </p:txBody>
      </p:sp>
      <p:sp>
        <p:nvSpPr>
          <p:cNvPr id="186" name="Text 18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Vertiefung &amp; verwandte Konzepte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365760" y="1261872"/>
            <a:ext cx="8412480" cy="1097280"/>
          </a:xfrm>
          <a:prstGeom prst="rect">
            <a:avLst/>
          </a:prstGeom>
          <a:solidFill>
            <a:srgbClr val="1E1F29"/>
          </a:solidFill>
          <a:ln w="12700">
            <a:solidFill>
              <a:srgbClr val="44475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5000"/>
              </a:srgbClr>
            </a:outerShdw>
          </a:effectLst>
        </p:spPr>
      </p:sp>
      <p:sp>
        <p:nvSpPr>
          <p:cNvPr id="188" name="Shape 186"/>
          <p:cNvSpPr/>
          <p:nvPr/>
        </p:nvSpPr>
        <p:spPr>
          <a:xfrm>
            <a:off x="365760" y="1261872"/>
            <a:ext cx="64008" cy="109728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457200" y="1261872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90" name="Text 188"/>
          <p:cNvSpPr/>
          <p:nvPr/>
        </p:nvSpPr>
        <p:spPr>
          <a:xfrm>
            <a:off x="1115568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CQRS</a:t>
            </a:r>
            <a:endParaRPr lang="en-US" sz="1600" dirty="0"/>
          </a:p>
        </p:txBody>
      </p:sp>
      <p:sp>
        <p:nvSpPr>
          <p:cNvPr id="191" name="Text 189"/>
          <p:cNvSpPr/>
          <p:nvPr/>
        </p:nvSpPr>
        <p:spPr>
          <a:xfrm>
            <a:off x="1115568" y="1664208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Query Responsibility Segregation</a:t>
            </a:r>
            <a:endParaRPr lang="en-US" sz="950" dirty="0"/>
          </a:p>
        </p:txBody>
      </p:sp>
      <p:sp>
        <p:nvSpPr>
          <p:cNvPr id="192" name="Text 190"/>
          <p:cNvSpPr/>
          <p:nvPr/>
        </p:nvSpPr>
        <p:spPr>
          <a:xfrm>
            <a:off x="1115568" y="188366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Schreib- und Lesepfad konsequent trennen — Event Store schreibt, optimierte Read Models lesen. Ermöglicht unabhängige Skalierung beider Seiten.</a:t>
            </a:r>
            <a:endParaRPr lang="en-US" sz="1050" dirty="0"/>
          </a:p>
        </p:txBody>
      </p:sp>
      <p:sp>
        <p:nvSpPr>
          <p:cNvPr id="193" name="Shape 191"/>
          <p:cNvSpPr/>
          <p:nvPr/>
        </p:nvSpPr>
        <p:spPr>
          <a:xfrm>
            <a:off x="365760" y="2478024"/>
            <a:ext cx="8412480" cy="1097280"/>
          </a:xfrm>
          <a:prstGeom prst="rect">
            <a:avLst/>
          </a:prstGeom>
          <a:solidFill>
            <a:srgbClr val="1E1F29"/>
          </a:solidFill>
          <a:ln w="12700">
            <a:solidFill>
              <a:srgbClr val="44475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5000"/>
              </a:srgbClr>
            </a:outerShdw>
          </a:effectLst>
        </p:spPr>
      </p:sp>
      <p:sp>
        <p:nvSpPr>
          <p:cNvPr id="194" name="Shape 192"/>
          <p:cNvSpPr/>
          <p:nvPr/>
        </p:nvSpPr>
        <p:spPr>
          <a:xfrm>
            <a:off x="365760" y="2478024"/>
            <a:ext cx="64008" cy="1097280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457200" y="2478024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96" name="Text 194"/>
          <p:cNvSpPr/>
          <p:nvPr/>
        </p:nvSpPr>
        <p:spPr>
          <a:xfrm>
            <a:off x="1115568" y="258775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Projektionen &amp; Read Models</a:t>
            </a:r>
            <a:endParaRPr lang="en-US" sz="1600" dirty="0"/>
          </a:p>
        </p:txBody>
      </p:sp>
      <p:sp>
        <p:nvSpPr>
          <p:cNvPr id="197" name="Text 195"/>
          <p:cNvSpPr/>
          <p:nvPr/>
        </p:nvSpPr>
        <p:spPr>
          <a:xfrm>
            <a:off x="1115568" y="2880360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Derived State — beliebig viele Sichten aus einem Event Log</a:t>
            </a:r>
            <a:endParaRPr lang="en-US" sz="950" dirty="0"/>
          </a:p>
        </p:txBody>
      </p:sp>
      <p:sp>
        <p:nvSpPr>
          <p:cNvPr id="198" name="Text 196"/>
          <p:cNvSpPr/>
          <p:nvPr/>
        </p:nvSpPr>
        <p:spPr>
          <a:xfrm>
            <a:off x="1115568" y="309981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Aus denselben Events lassen sich mehrere Read Models ableiten — z.B. Bestellübersicht nach Kunde, nach Produkt, nach Zeitraum. Änderungen rückwirkend möglich.</a:t>
            </a:r>
            <a:endParaRPr lang="en-US" sz="1050" dirty="0"/>
          </a:p>
        </p:txBody>
      </p:sp>
      <p:sp>
        <p:nvSpPr>
          <p:cNvPr id="199" name="Shape 197"/>
          <p:cNvSpPr/>
          <p:nvPr/>
        </p:nvSpPr>
        <p:spPr>
          <a:xfrm>
            <a:off x="365760" y="3694176"/>
            <a:ext cx="8412480" cy="1097280"/>
          </a:xfrm>
          <a:prstGeom prst="rect">
            <a:avLst/>
          </a:prstGeom>
          <a:solidFill>
            <a:srgbClr val="1E1F29"/>
          </a:solidFill>
          <a:ln w="12700">
            <a:solidFill>
              <a:srgbClr val="44475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5000"/>
              </a:srgbClr>
            </a:outerShdw>
          </a:effectLst>
        </p:spPr>
      </p:sp>
      <p:sp>
        <p:nvSpPr>
          <p:cNvPr id="200" name="Shape 198"/>
          <p:cNvSpPr/>
          <p:nvPr/>
        </p:nvSpPr>
        <p:spPr>
          <a:xfrm>
            <a:off x="365760" y="3694176"/>
            <a:ext cx="64008" cy="1097280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57200" y="3694176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202" name="Text 200"/>
          <p:cNvSpPr/>
          <p:nvPr/>
        </p:nvSpPr>
        <p:spPr>
          <a:xfrm>
            <a:off x="1115568" y="380390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Snapshots</a:t>
            </a:r>
            <a:endParaRPr lang="en-US" sz="1600" dirty="0"/>
          </a:p>
        </p:txBody>
      </p:sp>
      <p:sp>
        <p:nvSpPr>
          <p:cNvPr id="203" name="Text 201"/>
          <p:cNvSpPr/>
          <p:nvPr/>
        </p:nvSpPr>
        <p:spPr>
          <a:xfrm>
            <a:off x="1115568" y="4096512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Performance-Optimierung bei langen Event-Streams</a:t>
            </a:r>
            <a:endParaRPr lang="en-US" sz="950" dirty="0"/>
          </a:p>
        </p:txBody>
      </p:sp>
      <p:sp>
        <p:nvSpPr>
          <p:cNvPr id="204" name="Text 202"/>
          <p:cNvSpPr/>
          <p:nvPr/>
        </p:nvSpPr>
        <p:spPr>
          <a:xfrm>
            <a:off x="1115568" y="43159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 einer gewissen Event-Anzahl wird Replay teuer. Snapshots speichern periodisch den State — Replay startet vom letzten Snapshot statt von Event #1.</a:t>
            </a:r>
            <a:endParaRPr lang="en-US" sz="1050" dirty="0"/>
          </a:p>
        </p:txBody>
      </p:sp>
      <p:sp>
        <p:nvSpPr>
          <p:cNvPr id="205" name="Shape 20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1F29"/>
          </a:solidFill>
          <a:ln w="6350">
            <a:solidFill>
              <a:srgbClr val="6272A4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2A4"/>
                </a:solidFill>
              </a:rPr>
              <a:t>Dr.-Ing. Anton Stadler  ·  TH Rosenheim  ·  Event Sourcing als Architektur-Pattern mit Python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Sourcing als Architektur-Pattern mit Python</dc:title>
  <dc:subject>PptxGenJS Presentation</dc:subject>
  <dc:creator>Dr.-Ing. Anton Stadler</dc:creator>
  <cp:lastModifiedBy>Dr.-Ing. Anton Stadler</cp:lastModifiedBy>
  <cp:revision>1</cp:revision>
  <dcterms:created xsi:type="dcterms:W3CDTF">2026-03-12T22:59:17Z</dcterms:created>
  <dcterms:modified xsi:type="dcterms:W3CDTF">2026-03-12T22:59:17Z</dcterms:modified>
</cp:coreProperties>
</file>